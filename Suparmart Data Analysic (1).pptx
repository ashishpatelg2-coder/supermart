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DC697-9CD8-557B-01D4-D0414161C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283859-761E-CC9E-7A54-00A211267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EBC74-5F6A-3BB0-1C1C-717111763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9D1CA-4F26-4D20-BDD5-E60E084595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DE5D6-DF4C-1A11-F5B7-ABC25285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F5E97-D99C-3EEF-A9BF-00FE857A7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9792-58DB-4574-B49C-3602E2449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279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0945E-72EE-F533-2F1A-54A10ABD8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6FB2E-BA65-10B8-4031-C8BCB12E2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928B-6997-CEDD-5A04-97172AE9B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9D1CA-4F26-4D20-BDD5-E60E084595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B9CFC-9079-89AF-B2ED-86D47DCA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8727A-2D77-EE27-E188-C7832D44E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9792-58DB-4574-B49C-3602E2449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1151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193B3-7899-C25D-04D8-78DDEBBF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103C3-9161-B362-2CCC-034310644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83E4F-0F39-635D-E6B5-48B6FF7EC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9D1CA-4F26-4D20-BDD5-E60E084595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04D25-B88F-018F-0859-D9536E342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061A4-DAA3-07BC-41D6-35E46619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9792-58DB-4574-B49C-3602E2449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120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023E8-33BA-26A5-2B68-5BC389E26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9FA48-0F6B-F054-E4D9-8390C5C84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B336A-DE2F-B212-8537-F09AEDFF0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B6D77-9A73-707C-F99A-2ED01093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9D1CA-4F26-4D20-BDD5-E60E084595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DEE25-E415-CFFB-1B22-776D2A02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4262C-68F7-355C-66E8-BEB40EAC2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9792-58DB-4574-B49C-3602E2449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342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9448A-CAF5-7EBF-6CCD-D8150969C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C3C8F-2A7D-078A-946C-E830FB770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638C5-C5E0-3A0B-4713-9E16E943B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CE4EAA-41E1-C039-B0BD-06D52DB552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30B02-54AB-87DD-9ADF-08CF6E5327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8A7CA7-C51D-4259-9650-551B85F56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9D1CA-4F26-4D20-BDD5-E60E084595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50CE0-6A51-BDCA-396C-15E39973C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719D86-4646-EB10-7CE6-F3DE8F70A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9792-58DB-4574-B49C-3602E2449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8661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79C44-A0E8-0108-9FA2-EB43DE872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E71FC-E185-87DA-C09A-702B86706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9D1CA-4F26-4D20-BDD5-E60E084595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4F9FA8-7BA9-7636-7C7E-5E1F23FE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E360E-1679-02C5-BA4C-D994C060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9792-58DB-4574-B49C-3602E2449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1498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BF8BB4-2BD7-C46B-BA68-1437A9D3C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9D1CA-4F26-4D20-BDD5-E60E084595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5E057F-0ADB-7D58-412D-CFB0DBF6C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1F979-C571-EE41-FF25-B3F3B2A9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9792-58DB-4574-B49C-3602E2449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7210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7D153-6200-B681-DB51-95FBEA491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FD7B3-B021-C006-5A0B-5D8C9BF78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8980E-F26D-133B-AB5D-81D106D9F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AFB56-99E7-B5CA-0778-C10DC29F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9D1CA-4F26-4D20-BDD5-E60E084595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F3A54-58FC-68CC-1ABE-415E7A50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7068C-BD09-E850-930A-D2795525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9792-58DB-4574-B49C-3602E2449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429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724FE-A160-9035-BB6A-74FAFD57D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EDA291-B242-CAA4-C222-D1B5487520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961E6-A249-81CC-1B90-A6C572C2B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02FD0-E03E-A49E-0C9A-35CD57634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9D1CA-4F26-4D20-BDD5-E60E084595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8E031-0D57-F55F-5969-C5930186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4BE52-A4B9-DA5B-6F29-6367D9B2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9792-58DB-4574-B49C-3602E2449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2015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2FCB6-F982-8F86-56A7-338BF27D4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E621A-9502-646B-B15F-E3F5C7A56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CC04B-CD7E-C75C-CF46-E4D244733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9D1CA-4F26-4D20-BDD5-E60E084595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14EC0-C5D4-0165-C003-805CBF6AC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0776F-4D3E-3BDE-7E7D-AB688BD6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9792-58DB-4574-B49C-3602E2449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3248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D0E902-C337-9FF7-1A2E-F0A708BF5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0C03F-BA6C-A6CF-AE3F-14E78A5B6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35C1B-7DEB-2376-39DF-F5C9A7E0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9D1CA-4F26-4D20-BDD5-E60E084595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316AA-EBDE-DCF9-4210-7096FD89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68C3E-108D-D634-D57A-8216E9499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B9792-58DB-4574-B49C-3602E2449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095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D10546-5A8E-0D63-D7C1-F8E91D816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9B93E-D568-1C19-08C2-8490CC3AF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7E9EB-D7BF-C07E-C1D6-2A7DE607F5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9D1CA-4F26-4D20-BDD5-E60E084595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24590-77EF-B218-5711-94E177E06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B1276-0606-4B35-AABA-F6BDC4D9E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B9792-58DB-4574-B49C-3602E2449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923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88CFFC-7A9B-CD69-81A9-9A7BDEFC1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800" y="274320"/>
            <a:ext cx="3362960" cy="1005369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B6DD333C-5BA8-BB66-70C7-0F6C47C634D3}"/>
              </a:ext>
            </a:extLst>
          </p:cNvPr>
          <p:cNvSpPr/>
          <p:nvPr/>
        </p:nvSpPr>
        <p:spPr>
          <a:xfrm>
            <a:off x="537526" y="2166461"/>
            <a:ext cx="314960" cy="21574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DB6E50-83E3-D8F9-994F-FDE1108D5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20" y="183110"/>
            <a:ext cx="693420" cy="7543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31DFD2-7DC6-59D8-5DD7-4170F8DF8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6925" y="111984"/>
            <a:ext cx="640080" cy="746760"/>
          </a:xfrm>
          <a:prstGeom prst="rect">
            <a:avLst/>
          </a:prstGeom>
        </p:spPr>
      </p:pic>
      <p:sp>
        <p:nvSpPr>
          <p:cNvPr id="20" name="Subtitle 19">
            <a:extLst>
              <a:ext uri="{FF2B5EF4-FFF2-40B4-BE49-F238E27FC236}">
                <a16:creationId xmlns:a16="http://schemas.microsoft.com/office/drawing/2014/main" id="{22C94F61-1BEC-0D1F-6A02-552B5EC8A4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EABE82CD-B4EC-A5A4-5138-2018DC0F6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21888"/>
            <a:ext cx="9144000" cy="2387600"/>
          </a:xfrm>
        </p:spPr>
        <p:txBody>
          <a:bodyPr/>
          <a:lstStyle/>
          <a:p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51A4029-7FA4-5FE5-9C02-D38B669827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87" y="1168400"/>
            <a:ext cx="10714774" cy="523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9688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A6A04F-2A07-0FB2-D5F3-A8A52C47A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66700"/>
            <a:ext cx="693420" cy="7543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E858E9-6C45-8A7A-2907-DCE152363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800" y="274320"/>
            <a:ext cx="3362960" cy="1005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0D6428-61B5-C805-68CD-F9DD75BAB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6765" y="274320"/>
            <a:ext cx="640080" cy="7467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3209AE-DB7C-EE52-3FA0-0C1E2636E470}"/>
              </a:ext>
            </a:extLst>
          </p:cNvPr>
          <p:cNvSpPr txBox="1"/>
          <p:nvPr/>
        </p:nvSpPr>
        <p:spPr>
          <a:xfrm>
            <a:off x="666750" y="1496814"/>
            <a:ext cx="6313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786069-AD9E-81D5-A1E6-1D74479D5CFC}"/>
              </a:ext>
            </a:extLst>
          </p:cNvPr>
          <p:cNvSpPr txBox="1"/>
          <p:nvPr/>
        </p:nvSpPr>
        <p:spPr>
          <a:xfrm>
            <a:off x="883920" y="238954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BD28D4-BCBB-8042-3383-5CDA6355EF89}"/>
              </a:ext>
            </a:extLst>
          </p:cNvPr>
          <p:cNvSpPr txBox="1"/>
          <p:nvPr/>
        </p:nvSpPr>
        <p:spPr>
          <a:xfrm>
            <a:off x="1013460" y="3220720"/>
            <a:ext cx="100203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1. Total Sales:</a:t>
            </a:r>
            <a:r>
              <a:rPr lang="en-US" altLang="en-US" sz="2000" dirty="0">
                <a:latin typeface="Arial" panose="020B0604020202020204" pitchFamily="34" charset="0"/>
              </a:rPr>
              <a:t> The overall revenue generated from all items sold across all regions.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2. Total Profit:</a:t>
            </a:r>
            <a:r>
              <a:rPr lang="en-US" altLang="en-US" sz="2000" dirty="0">
                <a:latin typeface="Arial" panose="020B0604020202020204" pitchFamily="34" charset="0"/>
              </a:rPr>
              <a:t> The net earnings after subtracting costs from revenue.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3. Total Quantity:</a:t>
            </a:r>
            <a:r>
              <a:rPr lang="en-US" altLang="en-US" sz="2000" dirty="0">
                <a:latin typeface="Arial" panose="020B0604020202020204" pitchFamily="34" charset="0"/>
              </a:rPr>
              <a:t> The total count of individual units sold.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4. Average Discount:</a:t>
            </a:r>
            <a:r>
              <a:rPr lang="en-US" altLang="en-US" sz="2000" dirty="0">
                <a:latin typeface="Arial" panose="020B0604020202020204" pitchFamily="34" charset="0"/>
              </a:rPr>
              <a:t> The average percentage deduction given on products.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5. Average Sales:</a:t>
            </a:r>
            <a:r>
              <a:rPr lang="en-US" altLang="en-US" sz="2000" dirty="0">
                <a:latin typeface="Arial" panose="020B0604020202020204" pitchFamily="34" charset="0"/>
              </a:rPr>
              <a:t> The average revenue per transaction.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850826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ECBE2-CBDC-9106-5EC6-713C9E30F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0C4228-625C-851D-DA76-A5B7A4124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66700"/>
            <a:ext cx="693420" cy="7543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5F778F-8668-3B9E-66BF-55030EC2E0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800" y="274320"/>
            <a:ext cx="3362960" cy="1005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B5E19E-30E4-494A-89D0-0DC5FE9AC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6765" y="274320"/>
            <a:ext cx="640080" cy="7467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5C4266-DFF2-109E-ECD1-BEB9E19C764A}"/>
              </a:ext>
            </a:extLst>
          </p:cNvPr>
          <p:cNvSpPr txBox="1"/>
          <p:nvPr/>
        </p:nvSpPr>
        <p:spPr>
          <a:xfrm>
            <a:off x="666750" y="1496814"/>
            <a:ext cx="6313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4894227-28E9-9D00-F104-D40F361D7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" y="2540566"/>
            <a:ext cx="105918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 by Category </a:t>
            </a:r>
            <a:endParaRPr lang="en-US" altLang="en-US" b="1" dirty="0"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 the impact of different product categories (Furniture, Technology, Office Supplies) on total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Additional KPI Metrics: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Assess how Profit and Quantity vary by Category.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Chart Type: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Donut Chart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A71DF80-719F-C185-ACF1-1EF72F397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" y="4294892"/>
            <a:ext cx="1005332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Sub-Category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 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 the performance of specific sub-categories (e.g., Phones, Chairs, Binders) in terms of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Additional KPI Metrics: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 top 5 and bottom 5 performers.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Chart Type: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Bar Chart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6054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BFD71-DD44-9EA8-4297-2EEBD3261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19FB4C-3ED7-54BD-798A-067ABF6C3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66700"/>
            <a:ext cx="693420" cy="7543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C69AEA-C707-2EA3-16ED-2CB32EDB3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960" y="233355"/>
            <a:ext cx="3362960" cy="1005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BC58A4-E62D-92EC-30BA-021299B0B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6765" y="274320"/>
            <a:ext cx="640080" cy="7467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47F4AA-EBCE-5BFC-A05B-392BCF84B430}"/>
              </a:ext>
            </a:extLst>
          </p:cNvPr>
          <p:cNvSpPr txBox="1"/>
          <p:nvPr/>
        </p:nvSpPr>
        <p:spPr>
          <a:xfrm>
            <a:off x="666750" y="1496814"/>
            <a:ext cx="6313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33C13C5-F5A8-2ABC-E1A9-1E217112E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561" y="2461737"/>
            <a:ext cx="1033272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Sales by Customer Segment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 the contribution of different segments (Consumer, Corporate, Home Office) to total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Chart Type: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Pie Chart / Donut Chart.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5427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75</TotalTime>
  <Words>209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ashish patel</dc:creator>
  <cp:lastModifiedBy>ashish patel</cp:lastModifiedBy>
  <cp:revision>2</cp:revision>
  <dcterms:created xsi:type="dcterms:W3CDTF">2026-01-09T17:43:44Z</dcterms:created>
  <dcterms:modified xsi:type="dcterms:W3CDTF">2026-01-09T18:59:11Z</dcterms:modified>
</cp:coreProperties>
</file>